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8" r:id="rId10"/>
    <p:sldId id="267" r:id="rId11"/>
    <p:sldId id="270" r:id="rId12"/>
    <p:sldId id="269" r:id="rId13"/>
  </p:sldIdLst>
  <p:sldSz cx="18288000" cy="10287000"/>
  <p:notesSz cx="6858000" cy="91440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Londrina Solid" panose="020B0604020202020204" charset="0"/>
      <p:regular r:id="rId18"/>
    </p:embeddedFont>
    <p:embeddedFont>
      <p:font typeface="Poppins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66" d="100"/>
          <a:sy n="66" d="100"/>
        </p:scale>
        <p:origin x="38" y="-125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16432" y="-179028"/>
            <a:ext cx="4249215" cy="3845540"/>
          </a:xfrm>
          <a:custGeom>
            <a:avLst/>
            <a:gdLst/>
            <a:ahLst/>
            <a:cxnLst/>
            <a:rect l="l" t="t" r="r" b="b"/>
            <a:pathLst>
              <a:path w="4249215" h="3845540">
                <a:moveTo>
                  <a:pt x="0" y="0"/>
                </a:moveTo>
                <a:lnTo>
                  <a:pt x="4249216" y="0"/>
                </a:lnTo>
                <a:lnTo>
                  <a:pt x="4249216" y="3845540"/>
                </a:lnTo>
                <a:lnTo>
                  <a:pt x="0" y="38455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014386">
            <a:off x="15102628" y="6723856"/>
            <a:ext cx="3899773" cy="4035988"/>
          </a:xfrm>
          <a:custGeom>
            <a:avLst/>
            <a:gdLst/>
            <a:ahLst/>
            <a:cxnLst/>
            <a:rect l="l" t="t" r="r" b="b"/>
            <a:pathLst>
              <a:path w="3899773" h="4035988">
                <a:moveTo>
                  <a:pt x="0" y="0"/>
                </a:moveTo>
                <a:lnTo>
                  <a:pt x="3899773" y="0"/>
                </a:lnTo>
                <a:lnTo>
                  <a:pt x="3899773" y="4035988"/>
                </a:lnTo>
                <a:lnTo>
                  <a:pt x="0" y="40359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485783">
            <a:off x="14862104" y="-300831"/>
            <a:ext cx="3988636" cy="4003650"/>
          </a:xfrm>
          <a:custGeom>
            <a:avLst/>
            <a:gdLst/>
            <a:ahLst/>
            <a:cxnLst/>
            <a:rect l="l" t="t" r="r" b="b"/>
            <a:pathLst>
              <a:path w="3988636" h="4003650">
                <a:moveTo>
                  <a:pt x="0" y="0"/>
                </a:moveTo>
                <a:lnTo>
                  <a:pt x="3988636" y="0"/>
                </a:lnTo>
                <a:lnTo>
                  <a:pt x="3988636" y="4003650"/>
                </a:lnTo>
                <a:lnTo>
                  <a:pt x="0" y="40036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588873">
            <a:off x="-872206" y="6334810"/>
            <a:ext cx="4960764" cy="4158774"/>
          </a:xfrm>
          <a:custGeom>
            <a:avLst/>
            <a:gdLst/>
            <a:ahLst/>
            <a:cxnLst/>
            <a:rect l="l" t="t" r="r" b="b"/>
            <a:pathLst>
              <a:path w="4960764" h="4158774">
                <a:moveTo>
                  <a:pt x="0" y="0"/>
                </a:moveTo>
                <a:lnTo>
                  <a:pt x="4960764" y="0"/>
                </a:lnTo>
                <a:lnTo>
                  <a:pt x="4960764" y="4158774"/>
                </a:lnTo>
                <a:lnTo>
                  <a:pt x="0" y="41587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133600" y="962208"/>
            <a:ext cx="13378009" cy="6578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055"/>
              </a:lnSpc>
            </a:pPr>
            <a:r>
              <a:rPr lang="en-US" sz="9600" b="1" dirty="0"/>
              <a:t>Clinic Management System</a:t>
            </a:r>
            <a:endParaRPr lang="en-US" sz="9600" dirty="0"/>
          </a:p>
          <a:p>
            <a:pPr algn="ctr">
              <a:lnSpc>
                <a:spcPts val="17055"/>
              </a:lnSpc>
            </a:pPr>
            <a:endParaRPr lang="en-US" sz="17055" dirty="0">
              <a:solidFill>
                <a:srgbClr val="33407F"/>
              </a:solidFill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5012704" y="6244026"/>
            <a:ext cx="7925365" cy="3341450"/>
            <a:chOff x="0" y="0"/>
            <a:chExt cx="1630734" cy="19013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630734" cy="190137"/>
            </a:xfrm>
            <a:custGeom>
              <a:avLst/>
              <a:gdLst/>
              <a:ahLst/>
              <a:cxnLst/>
              <a:rect l="l" t="t" r="r" b="b"/>
              <a:pathLst>
                <a:path w="1630734" h="190137">
                  <a:moveTo>
                    <a:pt x="19079" y="0"/>
                  </a:moveTo>
                  <a:lnTo>
                    <a:pt x="1611654" y="0"/>
                  </a:lnTo>
                  <a:cubicBezTo>
                    <a:pt x="1616715" y="0"/>
                    <a:pt x="1621567" y="2010"/>
                    <a:pt x="1625145" y="5588"/>
                  </a:cubicBezTo>
                  <a:cubicBezTo>
                    <a:pt x="1628723" y="9166"/>
                    <a:pt x="1630734" y="14019"/>
                    <a:pt x="1630734" y="19079"/>
                  </a:cubicBezTo>
                  <a:lnTo>
                    <a:pt x="1630734" y="171058"/>
                  </a:lnTo>
                  <a:cubicBezTo>
                    <a:pt x="1630734" y="176118"/>
                    <a:pt x="1628723" y="180971"/>
                    <a:pt x="1625145" y="184549"/>
                  </a:cubicBezTo>
                  <a:cubicBezTo>
                    <a:pt x="1621567" y="188127"/>
                    <a:pt x="1616715" y="190137"/>
                    <a:pt x="1611654" y="190137"/>
                  </a:cubicBezTo>
                  <a:lnTo>
                    <a:pt x="19079" y="190137"/>
                  </a:lnTo>
                  <a:cubicBezTo>
                    <a:pt x="14019" y="190137"/>
                    <a:pt x="9166" y="188127"/>
                    <a:pt x="5588" y="184549"/>
                  </a:cubicBezTo>
                  <a:cubicBezTo>
                    <a:pt x="2010" y="180971"/>
                    <a:pt x="0" y="176118"/>
                    <a:pt x="0" y="171058"/>
                  </a:cubicBezTo>
                  <a:lnTo>
                    <a:pt x="0" y="19079"/>
                  </a:lnTo>
                  <a:cubicBezTo>
                    <a:pt x="0" y="14019"/>
                    <a:pt x="2010" y="9166"/>
                    <a:pt x="5588" y="5588"/>
                  </a:cubicBezTo>
                  <a:cubicBezTo>
                    <a:pt x="9166" y="2010"/>
                    <a:pt x="14019" y="0"/>
                    <a:pt x="19079" y="0"/>
                  </a:cubicBezTo>
                  <a:close/>
                </a:path>
              </a:pathLst>
            </a:custGeom>
            <a:solidFill>
              <a:srgbClr val="D5E0FA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630734" cy="2282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5408073" y="7296464"/>
            <a:ext cx="7471853" cy="22442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3499" dirty="0" err="1" smtClean="0">
                <a:solidFill>
                  <a:srgbClr val="33407F"/>
                </a:solidFill>
                <a:latin typeface="Poppins"/>
                <a:ea typeface="Poppins"/>
                <a:cs typeface="Poppins"/>
                <a:sym typeface="Poppins"/>
              </a:rPr>
              <a:t>Menna</a:t>
            </a:r>
            <a:r>
              <a:rPr lang="en-US" sz="3499" dirty="0" smtClean="0">
                <a:solidFill>
                  <a:srgbClr val="33407F"/>
                </a:solidFill>
                <a:latin typeface="Poppins"/>
                <a:ea typeface="Poppins"/>
                <a:cs typeface="Poppins"/>
                <a:sym typeface="Poppins"/>
              </a:rPr>
              <a:t> Ahmed </a:t>
            </a:r>
          </a:p>
          <a:p>
            <a:pPr algn="ctr">
              <a:lnSpc>
                <a:spcPts val="3499"/>
              </a:lnSpc>
            </a:pPr>
            <a:r>
              <a:rPr lang="en-US" sz="3499" dirty="0" err="1" smtClean="0">
                <a:solidFill>
                  <a:srgbClr val="33407F"/>
                </a:solidFill>
                <a:latin typeface="Poppins"/>
                <a:ea typeface="Poppins"/>
                <a:cs typeface="Poppins"/>
                <a:sym typeface="Poppins"/>
              </a:rPr>
              <a:t>Menna</a:t>
            </a:r>
            <a:r>
              <a:rPr lang="en-US" sz="3499" dirty="0" smtClean="0">
                <a:solidFill>
                  <a:srgbClr val="33407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499" dirty="0" err="1" smtClean="0">
                <a:solidFill>
                  <a:srgbClr val="33407F"/>
                </a:solidFill>
                <a:latin typeface="Poppins"/>
                <a:ea typeface="Poppins"/>
                <a:cs typeface="Poppins"/>
                <a:sym typeface="Poppins"/>
              </a:rPr>
              <a:t>Kamel</a:t>
            </a:r>
            <a:r>
              <a:rPr lang="en-US" sz="3499" dirty="0" smtClean="0">
                <a:solidFill>
                  <a:srgbClr val="33407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  <a:p>
            <a:pPr algn="ctr">
              <a:lnSpc>
                <a:spcPts val="3499"/>
              </a:lnSpc>
            </a:pPr>
            <a:endParaRPr lang="en-US" sz="3499" dirty="0">
              <a:solidFill>
                <a:srgbClr val="33407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lnSpc>
                <a:spcPts val="3499"/>
              </a:lnSpc>
            </a:pPr>
            <a:r>
              <a:rPr lang="en-US" sz="3200" dirty="0">
                <a:solidFill>
                  <a:schemeClr val="tx2"/>
                </a:solidFill>
              </a:rPr>
              <a:t>INSTRACTOR: DR/ Muhammed </a:t>
            </a:r>
            <a:r>
              <a:rPr lang="en-US" sz="3200" dirty="0" err="1">
                <a:solidFill>
                  <a:schemeClr val="tx2"/>
                </a:solidFill>
              </a:rPr>
              <a:t>Elsayeh</a:t>
            </a:r>
            <a:endParaRPr lang="en-US" sz="3200" dirty="0">
              <a:solidFill>
                <a:schemeClr val="tx2"/>
              </a:solidFill>
            </a:endParaRPr>
          </a:p>
          <a:p>
            <a:pPr algn="ctr">
              <a:lnSpc>
                <a:spcPts val="3499"/>
              </a:lnSpc>
            </a:pPr>
            <a:endParaRPr lang="en-US" sz="3499" dirty="0">
              <a:solidFill>
                <a:srgbClr val="33407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86389" y="-194898"/>
            <a:ext cx="2704084" cy="2447196"/>
          </a:xfrm>
          <a:custGeom>
            <a:avLst/>
            <a:gdLst/>
            <a:ahLst/>
            <a:cxnLst/>
            <a:rect l="l" t="t" r="r" b="b"/>
            <a:pathLst>
              <a:path w="2704084" h="2447196">
                <a:moveTo>
                  <a:pt x="0" y="0"/>
                </a:moveTo>
                <a:lnTo>
                  <a:pt x="2704083" y="0"/>
                </a:lnTo>
                <a:lnTo>
                  <a:pt x="2704083" y="2447196"/>
                </a:lnTo>
                <a:lnTo>
                  <a:pt x="0" y="24471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014386">
            <a:off x="15455286" y="7906732"/>
            <a:ext cx="2773354" cy="2870224"/>
          </a:xfrm>
          <a:custGeom>
            <a:avLst/>
            <a:gdLst/>
            <a:ahLst/>
            <a:cxnLst/>
            <a:rect l="l" t="t" r="r" b="b"/>
            <a:pathLst>
              <a:path w="2773354" h="2870224">
                <a:moveTo>
                  <a:pt x="0" y="0"/>
                </a:moveTo>
                <a:lnTo>
                  <a:pt x="2773354" y="0"/>
                </a:lnTo>
                <a:lnTo>
                  <a:pt x="2773354" y="2870225"/>
                </a:lnTo>
                <a:lnTo>
                  <a:pt x="0" y="28702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485783">
            <a:off x="15929652" y="-305953"/>
            <a:ext cx="2659296" cy="2669306"/>
          </a:xfrm>
          <a:custGeom>
            <a:avLst/>
            <a:gdLst/>
            <a:ahLst/>
            <a:cxnLst/>
            <a:rect l="l" t="t" r="r" b="b"/>
            <a:pathLst>
              <a:path w="2659296" h="2669306">
                <a:moveTo>
                  <a:pt x="0" y="0"/>
                </a:moveTo>
                <a:lnTo>
                  <a:pt x="2659296" y="0"/>
                </a:lnTo>
                <a:lnTo>
                  <a:pt x="2659296" y="2669306"/>
                </a:lnTo>
                <a:lnTo>
                  <a:pt x="0" y="26693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588873">
            <a:off x="-424830" y="7834217"/>
            <a:ext cx="3397415" cy="2848166"/>
          </a:xfrm>
          <a:custGeom>
            <a:avLst/>
            <a:gdLst/>
            <a:ahLst/>
            <a:cxnLst/>
            <a:rect l="l" t="t" r="r" b="b"/>
            <a:pathLst>
              <a:path w="3397415" h="2848166">
                <a:moveTo>
                  <a:pt x="0" y="0"/>
                </a:moveTo>
                <a:lnTo>
                  <a:pt x="3397415" y="0"/>
                </a:lnTo>
                <a:lnTo>
                  <a:pt x="3397415" y="2848166"/>
                </a:lnTo>
                <a:lnTo>
                  <a:pt x="0" y="28481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857237" y="1075377"/>
            <a:ext cx="9760444" cy="1461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43"/>
              </a:lnSpc>
            </a:pPr>
            <a:r>
              <a:rPr lang="en-US" sz="11443" dirty="0">
                <a:solidFill>
                  <a:srgbClr val="33407F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I</a:t>
            </a:r>
            <a:r>
              <a:rPr lang="en-US" sz="11443" dirty="0" smtClean="0">
                <a:solidFill>
                  <a:srgbClr val="33407F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ntroduction</a:t>
            </a:r>
            <a:endParaRPr lang="en-US" sz="11443" dirty="0">
              <a:solidFill>
                <a:srgbClr val="33407F"/>
              </a:solidFill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3953256" y="3497721"/>
            <a:ext cx="9664425" cy="59606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/>
              <a:t>The Clinic Management System helps clinics work better. </a:t>
            </a:r>
            <a:endParaRPr lang="en-US" sz="2800" dirty="0" smtClean="0"/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/>
              <a:t>It keeps track of departments, clinics, doctors, patients, and appointments. </a:t>
            </a:r>
            <a:endParaRPr lang="en-US" sz="2800" dirty="0" smtClean="0"/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/>
              <a:t>It stores doctor and patient information and helps schedule appointments. </a:t>
            </a:r>
            <a:endParaRPr lang="en-US" sz="2800" dirty="0" smtClean="0"/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/>
              <a:t>It keeps all records in one place using a relational database system. </a:t>
            </a:r>
            <a:endParaRPr lang="en-US" sz="2800" dirty="0" smtClean="0"/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/>
              <a:t>The Clinic Management System makes clinic management easier. </a:t>
            </a:r>
          </a:p>
          <a:p>
            <a:pPr algn="l">
              <a:lnSpc>
                <a:spcPts val="2793"/>
              </a:lnSpc>
            </a:pPr>
            <a:endParaRPr lang="en-US" sz="2429" dirty="0">
              <a:solidFill>
                <a:srgbClr val="33407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0605949" y="6478024"/>
            <a:ext cx="5214345" cy="359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3"/>
              </a:lnSpc>
            </a:pPr>
            <a:r>
              <a:rPr lang="en-US" sz="2429" dirty="0" smtClean="0">
                <a:solidFill>
                  <a:srgbClr val="33407F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lang="en-US" sz="2429" dirty="0">
              <a:solidFill>
                <a:srgbClr val="33407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86389" y="-194898"/>
            <a:ext cx="2704084" cy="2447196"/>
          </a:xfrm>
          <a:custGeom>
            <a:avLst/>
            <a:gdLst/>
            <a:ahLst/>
            <a:cxnLst/>
            <a:rect l="l" t="t" r="r" b="b"/>
            <a:pathLst>
              <a:path w="2704084" h="2447196">
                <a:moveTo>
                  <a:pt x="0" y="0"/>
                </a:moveTo>
                <a:lnTo>
                  <a:pt x="2704083" y="0"/>
                </a:lnTo>
                <a:lnTo>
                  <a:pt x="2704083" y="2447196"/>
                </a:lnTo>
                <a:lnTo>
                  <a:pt x="0" y="24471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88873">
            <a:off x="-424830" y="7834217"/>
            <a:ext cx="3397415" cy="2848166"/>
          </a:xfrm>
          <a:custGeom>
            <a:avLst/>
            <a:gdLst/>
            <a:ahLst/>
            <a:cxnLst/>
            <a:rect l="l" t="t" r="r" b="b"/>
            <a:pathLst>
              <a:path w="3397415" h="2848166">
                <a:moveTo>
                  <a:pt x="0" y="0"/>
                </a:moveTo>
                <a:lnTo>
                  <a:pt x="3397415" y="0"/>
                </a:lnTo>
                <a:lnTo>
                  <a:pt x="3397415" y="2848166"/>
                </a:lnTo>
                <a:lnTo>
                  <a:pt x="0" y="28481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429000" y="342900"/>
            <a:ext cx="8726512" cy="29238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1443"/>
              </a:lnSpc>
            </a:pPr>
            <a:r>
              <a:rPr lang="en-US" sz="9600" b="1" dirty="0">
                <a:solidFill>
                  <a:schemeClr val="tx2"/>
                </a:solidFill>
              </a:rPr>
              <a:t>Problem Description</a:t>
            </a:r>
            <a:endParaRPr lang="en-US" sz="11443" dirty="0">
              <a:solidFill>
                <a:schemeClr val="tx2"/>
              </a:solidFill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981200" y="3952577"/>
            <a:ext cx="12801600" cy="42370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 smtClean="0"/>
              <a:t>The </a:t>
            </a:r>
            <a:r>
              <a:rPr lang="en-US" sz="2800" dirty="0"/>
              <a:t>project is about creating a database system for managing clinics.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 smtClean="0"/>
              <a:t>This </a:t>
            </a:r>
            <a:r>
              <a:rPr lang="en-US" sz="2800" dirty="0"/>
              <a:t>system will help with scheduling appointments and storing patient information.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 smtClean="0"/>
              <a:t>The </a:t>
            </a:r>
            <a:r>
              <a:rPr lang="en-US" sz="2800" dirty="0"/>
              <a:t>clinic management system will manage doctors and different departments.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 smtClean="0"/>
              <a:t>It </a:t>
            </a:r>
            <a:r>
              <a:rPr lang="en-US" sz="2800" dirty="0"/>
              <a:t>will track appointment details such as diagnosis, appointment status, and cost.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 smtClean="0"/>
              <a:t>The </a:t>
            </a:r>
            <a:r>
              <a:rPr lang="en-US" sz="2800" dirty="0"/>
              <a:t>clinic management system is about making clinic management easier.</a:t>
            </a:r>
            <a:endParaRPr lang="en-US" sz="2800" dirty="0" smtClean="0"/>
          </a:p>
          <a:p>
            <a:pPr>
              <a:lnSpc>
                <a:spcPts val="2793"/>
              </a:lnSpc>
            </a:pPr>
            <a:endParaRPr lang="en-US" sz="2800" dirty="0">
              <a:solidFill>
                <a:srgbClr val="33407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" name="Freeform 7"/>
          <p:cNvSpPr/>
          <p:nvPr/>
        </p:nvSpPr>
        <p:spPr>
          <a:xfrm rot="485783">
            <a:off x="15929652" y="-305953"/>
            <a:ext cx="2659296" cy="2669306"/>
          </a:xfrm>
          <a:custGeom>
            <a:avLst/>
            <a:gdLst/>
            <a:ahLst/>
            <a:cxnLst/>
            <a:rect l="l" t="t" r="r" b="b"/>
            <a:pathLst>
              <a:path w="2659296" h="2669306">
                <a:moveTo>
                  <a:pt x="0" y="0"/>
                </a:moveTo>
                <a:lnTo>
                  <a:pt x="2659296" y="0"/>
                </a:lnTo>
                <a:lnTo>
                  <a:pt x="2659296" y="2669306"/>
                </a:lnTo>
                <a:lnTo>
                  <a:pt x="0" y="26693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86389" y="-194898"/>
            <a:ext cx="2704084" cy="2447196"/>
          </a:xfrm>
          <a:custGeom>
            <a:avLst/>
            <a:gdLst/>
            <a:ahLst/>
            <a:cxnLst/>
            <a:rect l="l" t="t" r="r" b="b"/>
            <a:pathLst>
              <a:path w="2704084" h="2447196">
                <a:moveTo>
                  <a:pt x="0" y="0"/>
                </a:moveTo>
                <a:lnTo>
                  <a:pt x="2704083" y="0"/>
                </a:lnTo>
                <a:lnTo>
                  <a:pt x="2704083" y="2447196"/>
                </a:lnTo>
                <a:lnTo>
                  <a:pt x="0" y="24471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485783">
            <a:off x="15929652" y="-305953"/>
            <a:ext cx="2659296" cy="2669306"/>
          </a:xfrm>
          <a:custGeom>
            <a:avLst/>
            <a:gdLst/>
            <a:ahLst/>
            <a:cxnLst/>
            <a:rect l="l" t="t" r="r" b="b"/>
            <a:pathLst>
              <a:path w="2659296" h="2669306">
                <a:moveTo>
                  <a:pt x="0" y="0"/>
                </a:moveTo>
                <a:lnTo>
                  <a:pt x="2659296" y="0"/>
                </a:lnTo>
                <a:lnTo>
                  <a:pt x="2659296" y="2669306"/>
                </a:lnTo>
                <a:lnTo>
                  <a:pt x="0" y="26693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203977" y="1424523"/>
            <a:ext cx="11438277" cy="29238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43"/>
              </a:lnSpc>
            </a:pPr>
            <a:r>
              <a:rPr lang="en-US" sz="9600" dirty="0">
                <a:solidFill>
                  <a:schemeClr val="tx2"/>
                </a:solidFill>
              </a:rPr>
              <a:t>Entities and Attributes</a:t>
            </a:r>
          </a:p>
          <a:p>
            <a:pPr algn="ctr">
              <a:lnSpc>
                <a:spcPts val="11443"/>
              </a:lnSpc>
            </a:pPr>
            <a:endParaRPr lang="en-US" sz="11443" dirty="0">
              <a:solidFill>
                <a:srgbClr val="33407F"/>
              </a:solidFill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3735156" y="5004550"/>
            <a:ext cx="3524144" cy="359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93"/>
              </a:lnSpc>
            </a:pPr>
            <a:r>
              <a:rPr lang="en-US" sz="2429" dirty="0" smtClean="0">
                <a:solidFill>
                  <a:srgbClr val="33407F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lang="en-US" sz="2429" dirty="0">
              <a:solidFill>
                <a:srgbClr val="33407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4400" y="3543300"/>
            <a:ext cx="4572000" cy="66479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Department</a:t>
            </a:r>
            <a:endParaRPr lang="en-US" sz="2400" b="1" dirty="0"/>
          </a:p>
          <a:p>
            <a:r>
              <a:rPr lang="en-US" sz="2400" dirty="0" err="1"/>
              <a:t>Dept_ID</a:t>
            </a:r>
            <a:endParaRPr lang="en-US" sz="2400" dirty="0"/>
          </a:p>
          <a:p>
            <a:r>
              <a:rPr lang="en-US" sz="2400" dirty="0" err="1"/>
              <a:t>Dept_Name</a:t>
            </a:r>
            <a:endParaRPr lang="en-US" sz="2400" dirty="0"/>
          </a:p>
          <a:p>
            <a:endParaRPr lang="en-US" sz="2400" dirty="0"/>
          </a:p>
          <a:p>
            <a:r>
              <a:rPr lang="en-US" sz="2400" b="1" dirty="0"/>
              <a:t>Clinic</a:t>
            </a:r>
          </a:p>
          <a:p>
            <a:r>
              <a:rPr lang="en-US" sz="2400" dirty="0" err="1"/>
              <a:t>Clinic_ID</a:t>
            </a:r>
            <a:endParaRPr lang="en-US" sz="2400" dirty="0"/>
          </a:p>
          <a:p>
            <a:r>
              <a:rPr lang="en-US" sz="2400" dirty="0" err="1"/>
              <a:t>Clinic_Name</a:t>
            </a:r>
            <a:endParaRPr lang="en-US" sz="2400" dirty="0"/>
          </a:p>
          <a:p>
            <a:r>
              <a:rPr lang="en-US" sz="2400" dirty="0"/>
              <a:t>Address</a:t>
            </a:r>
          </a:p>
          <a:p>
            <a:r>
              <a:rPr lang="en-US" sz="2400" dirty="0" err="1"/>
              <a:t>Dept_ID</a:t>
            </a:r>
            <a:endParaRPr lang="en-US" sz="2400" dirty="0"/>
          </a:p>
          <a:p>
            <a:endParaRPr lang="en-US" sz="2400" dirty="0"/>
          </a:p>
          <a:p>
            <a:r>
              <a:rPr lang="en-US" sz="2400" b="1" dirty="0"/>
              <a:t>Doctor</a:t>
            </a:r>
          </a:p>
          <a:p>
            <a:r>
              <a:rPr lang="en-US" sz="2400" dirty="0" err="1"/>
              <a:t>Doctor_ID</a:t>
            </a:r>
            <a:endParaRPr lang="en-US" sz="2400" dirty="0"/>
          </a:p>
          <a:p>
            <a:r>
              <a:rPr lang="en-US" sz="2400" dirty="0" err="1"/>
              <a:t>Doctor_Name</a:t>
            </a:r>
            <a:endParaRPr lang="en-US" sz="2400" dirty="0"/>
          </a:p>
          <a:p>
            <a:r>
              <a:rPr lang="en-US" sz="2400" dirty="0" err="1"/>
              <a:t>Phone_Number</a:t>
            </a:r>
            <a:endParaRPr lang="en-US" sz="2400" dirty="0"/>
          </a:p>
          <a:p>
            <a:r>
              <a:rPr lang="en-US" sz="2400" dirty="0"/>
              <a:t>Address</a:t>
            </a:r>
          </a:p>
          <a:p>
            <a:r>
              <a:rPr lang="en-US" sz="2400" dirty="0"/>
              <a:t>Specialization</a:t>
            </a:r>
          </a:p>
          <a:p>
            <a:r>
              <a:rPr lang="en-US" sz="2400" dirty="0" err="1"/>
              <a:t>Dept_ID</a:t>
            </a:r>
            <a:endParaRPr lang="en-US" sz="2400" dirty="0"/>
          </a:p>
          <a:p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8810094" y="3467100"/>
            <a:ext cx="6687134" cy="79406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Patient</a:t>
            </a:r>
          </a:p>
          <a:p>
            <a:r>
              <a:rPr lang="en-US" sz="2400" dirty="0" err="1"/>
              <a:t>Patient_ID</a:t>
            </a:r>
            <a:endParaRPr lang="en-US" sz="2400" dirty="0"/>
          </a:p>
          <a:p>
            <a:r>
              <a:rPr lang="en-US" sz="2400" dirty="0" err="1"/>
              <a:t>Patient_Name</a:t>
            </a:r>
            <a:endParaRPr lang="en-US" sz="2400" dirty="0"/>
          </a:p>
          <a:p>
            <a:r>
              <a:rPr lang="en-US" sz="2400" dirty="0" err="1"/>
              <a:t>Phone_Number</a:t>
            </a:r>
            <a:endParaRPr lang="en-US" sz="2400" dirty="0"/>
          </a:p>
          <a:p>
            <a:r>
              <a:rPr lang="en-US" sz="2400" dirty="0"/>
              <a:t>Address</a:t>
            </a:r>
          </a:p>
          <a:p>
            <a:r>
              <a:rPr lang="en-US" sz="2400" dirty="0" err="1"/>
              <a:t>Birth_Date</a:t>
            </a:r>
            <a:endParaRPr lang="en-US" sz="2400" dirty="0"/>
          </a:p>
          <a:p>
            <a:r>
              <a:rPr lang="en-US" sz="2400" dirty="0"/>
              <a:t>Job</a:t>
            </a:r>
          </a:p>
          <a:p>
            <a:endParaRPr lang="en-US" sz="2400" b="1" dirty="0"/>
          </a:p>
          <a:p>
            <a:r>
              <a:rPr lang="en-US" sz="2400" b="1" dirty="0"/>
              <a:t>Appointment</a:t>
            </a:r>
          </a:p>
          <a:p>
            <a:r>
              <a:rPr lang="en-US" sz="2400" dirty="0" err="1"/>
              <a:t>Appointment_ID</a:t>
            </a:r>
            <a:endParaRPr lang="en-US" sz="2400" dirty="0"/>
          </a:p>
          <a:p>
            <a:r>
              <a:rPr lang="en-US" sz="2400" dirty="0" err="1"/>
              <a:t>Appointment_Date</a:t>
            </a:r>
            <a:endParaRPr lang="en-US" sz="2400" dirty="0"/>
          </a:p>
          <a:p>
            <a:r>
              <a:rPr lang="en-US" sz="2400" dirty="0" err="1"/>
              <a:t>Start_Time</a:t>
            </a:r>
            <a:endParaRPr lang="en-US" sz="2400" dirty="0"/>
          </a:p>
          <a:p>
            <a:r>
              <a:rPr lang="en-US" sz="2400" dirty="0" err="1" smtClean="0"/>
              <a:t>End_Time</a:t>
            </a:r>
            <a:endParaRPr lang="en-US" sz="2400" dirty="0"/>
          </a:p>
          <a:p>
            <a:r>
              <a:rPr lang="en-US" sz="2400" b="1" dirty="0"/>
              <a:t>Cost</a:t>
            </a:r>
          </a:p>
          <a:p>
            <a:r>
              <a:rPr lang="en-US" sz="2400" dirty="0"/>
              <a:t>Status</a:t>
            </a:r>
          </a:p>
          <a:p>
            <a:r>
              <a:rPr lang="en-US" sz="2400" dirty="0"/>
              <a:t>Diagnosis</a:t>
            </a:r>
          </a:p>
          <a:p>
            <a:r>
              <a:rPr lang="en-US" sz="2400" dirty="0" err="1"/>
              <a:t>Patient_ID</a:t>
            </a:r>
            <a:endParaRPr lang="en-US" sz="2400" dirty="0"/>
          </a:p>
          <a:p>
            <a:r>
              <a:rPr lang="en-US" sz="2400" dirty="0" err="1"/>
              <a:t>Doctor_ID</a:t>
            </a:r>
            <a:endParaRPr lang="en-US" sz="2400" dirty="0"/>
          </a:p>
          <a:p>
            <a:endParaRPr lang="en-US" sz="2400" b="1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86389" y="-194898"/>
            <a:ext cx="2704084" cy="2447196"/>
          </a:xfrm>
          <a:custGeom>
            <a:avLst/>
            <a:gdLst/>
            <a:ahLst/>
            <a:cxnLst/>
            <a:rect l="l" t="t" r="r" b="b"/>
            <a:pathLst>
              <a:path w="2704084" h="2447196">
                <a:moveTo>
                  <a:pt x="0" y="0"/>
                </a:moveTo>
                <a:lnTo>
                  <a:pt x="2704083" y="0"/>
                </a:lnTo>
                <a:lnTo>
                  <a:pt x="2704083" y="2447196"/>
                </a:lnTo>
                <a:lnTo>
                  <a:pt x="0" y="24471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485783">
            <a:off x="15929652" y="-305953"/>
            <a:ext cx="2659296" cy="2669306"/>
          </a:xfrm>
          <a:custGeom>
            <a:avLst/>
            <a:gdLst/>
            <a:ahLst/>
            <a:cxnLst/>
            <a:rect l="l" t="t" r="r" b="b"/>
            <a:pathLst>
              <a:path w="2659296" h="2669306">
                <a:moveTo>
                  <a:pt x="0" y="0"/>
                </a:moveTo>
                <a:lnTo>
                  <a:pt x="2659296" y="0"/>
                </a:lnTo>
                <a:lnTo>
                  <a:pt x="2659296" y="2669306"/>
                </a:lnTo>
                <a:lnTo>
                  <a:pt x="0" y="26693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424861" y="1775983"/>
            <a:ext cx="11438277" cy="1461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43"/>
              </a:lnSpc>
            </a:pPr>
            <a:r>
              <a:rPr lang="en-US" sz="9600" b="1" dirty="0">
                <a:solidFill>
                  <a:schemeClr val="tx2"/>
                </a:solidFill>
              </a:rPr>
              <a:t>ER Diagram</a:t>
            </a:r>
            <a:endParaRPr lang="en-US" sz="11443" dirty="0">
              <a:solidFill>
                <a:schemeClr val="tx2"/>
              </a:solidFill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9" name="Freeform 9"/>
          <p:cNvSpPr/>
          <p:nvPr/>
        </p:nvSpPr>
        <p:spPr>
          <a:xfrm rot="1014386">
            <a:off x="15455286" y="7906732"/>
            <a:ext cx="2773354" cy="2870224"/>
          </a:xfrm>
          <a:custGeom>
            <a:avLst/>
            <a:gdLst/>
            <a:ahLst/>
            <a:cxnLst/>
            <a:rect l="l" t="t" r="r" b="b"/>
            <a:pathLst>
              <a:path w="2773354" h="2870224">
                <a:moveTo>
                  <a:pt x="0" y="0"/>
                </a:moveTo>
                <a:lnTo>
                  <a:pt x="2773354" y="0"/>
                </a:lnTo>
                <a:lnTo>
                  <a:pt x="2773354" y="2870225"/>
                </a:lnTo>
                <a:lnTo>
                  <a:pt x="0" y="28702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588873">
            <a:off x="-424830" y="7834217"/>
            <a:ext cx="3397415" cy="2848166"/>
          </a:xfrm>
          <a:custGeom>
            <a:avLst/>
            <a:gdLst/>
            <a:ahLst/>
            <a:cxnLst/>
            <a:rect l="l" t="t" r="r" b="b"/>
            <a:pathLst>
              <a:path w="3397415" h="2848166">
                <a:moveTo>
                  <a:pt x="0" y="0"/>
                </a:moveTo>
                <a:lnTo>
                  <a:pt x="3397415" y="0"/>
                </a:lnTo>
                <a:lnTo>
                  <a:pt x="3397415" y="2848166"/>
                </a:lnTo>
                <a:lnTo>
                  <a:pt x="0" y="28481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0" y="3214290"/>
            <a:ext cx="13411199" cy="667768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86389" y="-194898"/>
            <a:ext cx="2704084" cy="2447196"/>
          </a:xfrm>
          <a:custGeom>
            <a:avLst/>
            <a:gdLst/>
            <a:ahLst/>
            <a:cxnLst/>
            <a:rect l="l" t="t" r="r" b="b"/>
            <a:pathLst>
              <a:path w="2704084" h="2447196">
                <a:moveTo>
                  <a:pt x="0" y="0"/>
                </a:moveTo>
                <a:lnTo>
                  <a:pt x="2704083" y="0"/>
                </a:lnTo>
                <a:lnTo>
                  <a:pt x="2704083" y="2447196"/>
                </a:lnTo>
                <a:lnTo>
                  <a:pt x="0" y="24471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88873">
            <a:off x="-424830" y="7834217"/>
            <a:ext cx="3397415" cy="2848166"/>
          </a:xfrm>
          <a:custGeom>
            <a:avLst/>
            <a:gdLst/>
            <a:ahLst/>
            <a:cxnLst/>
            <a:rect l="l" t="t" r="r" b="b"/>
            <a:pathLst>
              <a:path w="3397415" h="2848166">
                <a:moveTo>
                  <a:pt x="0" y="0"/>
                </a:moveTo>
                <a:lnTo>
                  <a:pt x="3397415" y="0"/>
                </a:lnTo>
                <a:lnTo>
                  <a:pt x="3397415" y="2848166"/>
                </a:lnTo>
                <a:lnTo>
                  <a:pt x="0" y="28481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485783">
            <a:off x="15929652" y="-305953"/>
            <a:ext cx="2659296" cy="2669306"/>
          </a:xfrm>
          <a:custGeom>
            <a:avLst/>
            <a:gdLst/>
            <a:ahLst/>
            <a:cxnLst/>
            <a:rect l="l" t="t" r="r" b="b"/>
            <a:pathLst>
              <a:path w="2659296" h="2669306">
                <a:moveTo>
                  <a:pt x="0" y="0"/>
                </a:moveTo>
                <a:lnTo>
                  <a:pt x="2659296" y="0"/>
                </a:lnTo>
                <a:lnTo>
                  <a:pt x="2659296" y="2669306"/>
                </a:lnTo>
                <a:lnTo>
                  <a:pt x="0" y="26693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276689" y="1800988"/>
            <a:ext cx="8726512" cy="1461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1443"/>
              </a:lnSpc>
            </a:pPr>
            <a:r>
              <a:rPr lang="en-US" sz="9600" b="1" dirty="0">
                <a:solidFill>
                  <a:schemeClr val="tx2"/>
                </a:solidFill>
              </a:rPr>
              <a:t>Relationships</a:t>
            </a:r>
            <a:endParaRPr lang="en-US" sz="11443" dirty="0">
              <a:solidFill>
                <a:schemeClr val="tx2"/>
              </a:solidFill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8" name="Freeform 8"/>
          <p:cNvSpPr/>
          <p:nvPr/>
        </p:nvSpPr>
        <p:spPr>
          <a:xfrm rot="1014386">
            <a:off x="15455286" y="7906732"/>
            <a:ext cx="2773354" cy="2870224"/>
          </a:xfrm>
          <a:custGeom>
            <a:avLst/>
            <a:gdLst/>
            <a:ahLst/>
            <a:cxnLst/>
            <a:rect l="l" t="t" r="r" b="b"/>
            <a:pathLst>
              <a:path w="2773354" h="2870224">
                <a:moveTo>
                  <a:pt x="0" y="0"/>
                </a:moveTo>
                <a:lnTo>
                  <a:pt x="2773354" y="0"/>
                </a:lnTo>
                <a:lnTo>
                  <a:pt x="2773354" y="2870225"/>
                </a:lnTo>
                <a:lnTo>
                  <a:pt x="0" y="28702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1" name="TextBox 10"/>
          <p:cNvSpPr txBox="1"/>
          <p:nvPr/>
        </p:nvSpPr>
        <p:spPr>
          <a:xfrm>
            <a:off x="2057400" y="3467100"/>
            <a:ext cx="11658600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b="1" dirty="0"/>
              <a:t> </a:t>
            </a:r>
            <a:endParaRPr lang="en-US" dirty="0"/>
          </a:p>
          <a:p>
            <a:pPr rtl="1"/>
            <a:r>
              <a:rPr lang="en-US" sz="2800" b="1" dirty="0"/>
              <a:t>A Department can have multiple Doctors (1:M relationship).</a:t>
            </a:r>
            <a:endParaRPr lang="en-US" sz="2800" dirty="0"/>
          </a:p>
          <a:p>
            <a:pPr rtl="1"/>
            <a:r>
              <a:rPr lang="ar-SA" sz="2800" b="1" dirty="0"/>
              <a:t> </a:t>
            </a:r>
            <a:endParaRPr lang="en-US" sz="2800" dirty="0"/>
          </a:p>
          <a:p>
            <a:pPr rtl="1"/>
            <a:r>
              <a:rPr lang="en-US" sz="2800" b="1" dirty="0"/>
              <a:t>A Clinic belongs to one Department (M:1 relationship).</a:t>
            </a:r>
            <a:endParaRPr lang="en-US" sz="2800" dirty="0"/>
          </a:p>
          <a:p>
            <a:pPr rtl="1"/>
            <a:r>
              <a:rPr lang="ar-SA" sz="2800" b="1" dirty="0"/>
              <a:t> </a:t>
            </a:r>
            <a:endParaRPr lang="en-US" sz="2800" dirty="0"/>
          </a:p>
          <a:p>
            <a:pPr rtl="1"/>
            <a:r>
              <a:rPr lang="en-US" sz="2800" b="1" dirty="0"/>
              <a:t>A Doctor belongs to one Department (M:1 relationship).</a:t>
            </a:r>
            <a:endParaRPr lang="en-US" sz="2800" dirty="0"/>
          </a:p>
          <a:p>
            <a:pPr rtl="1"/>
            <a:r>
              <a:rPr lang="en-US" sz="2800" b="1" dirty="0"/>
              <a:t> A Doctor can have multiple Appointments (1:M relationship).</a:t>
            </a:r>
            <a:endParaRPr lang="en-US" sz="2800" dirty="0"/>
          </a:p>
          <a:p>
            <a:pPr rtl="1"/>
            <a:r>
              <a:rPr lang="ar-SA" sz="2800" b="1" dirty="0"/>
              <a:t> </a:t>
            </a:r>
            <a:endParaRPr lang="en-US" sz="2800" dirty="0"/>
          </a:p>
          <a:p>
            <a:pPr rtl="1"/>
            <a:r>
              <a:rPr lang="en-US" sz="2800" b="1" dirty="0"/>
              <a:t>A Patient can have multiple Appointments (1:M relationship).</a:t>
            </a:r>
            <a:endParaRPr lang="en-US" sz="2800" dirty="0"/>
          </a:p>
          <a:p>
            <a:pPr rtl="1"/>
            <a:r>
              <a:rPr lang="ar-SA" sz="2800" b="1" dirty="0"/>
              <a:t> </a:t>
            </a:r>
            <a:endParaRPr lang="en-US" sz="2800" dirty="0"/>
          </a:p>
          <a:p>
            <a:pPr rtl="1"/>
            <a:r>
              <a:rPr lang="ar-SA" sz="2800" b="1" dirty="0"/>
              <a:t>- </a:t>
            </a:r>
            <a:r>
              <a:rPr lang="en-US" sz="2800" b="1" dirty="0"/>
              <a:t>Each Appointment is associated with one Doctor and one Patient (M:1 relationship).</a:t>
            </a:r>
            <a:endParaRPr lang="en-US" sz="2800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86389" y="-194898"/>
            <a:ext cx="2704084" cy="2447196"/>
          </a:xfrm>
          <a:custGeom>
            <a:avLst/>
            <a:gdLst/>
            <a:ahLst/>
            <a:cxnLst/>
            <a:rect l="l" t="t" r="r" b="b"/>
            <a:pathLst>
              <a:path w="2704084" h="2447196">
                <a:moveTo>
                  <a:pt x="0" y="0"/>
                </a:moveTo>
                <a:lnTo>
                  <a:pt x="2704083" y="0"/>
                </a:lnTo>
                <a:lnTo>
                  <a:pt x="2704083" y="2447196"/>
                </a:lnTo>
                <a:lnTo>
                  <a:pt x="0" y="24471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485783">
            <a:off x="15929652" y="-305953"/>
            <a:ext cx="2659296" cy="2669306"/>
          </a:xfrm>
          <a:custGeom>
            <a:avLst/>
            <a:gdLst/>
            <a:ahLst/>
            <a:cxnLst/>
            <a:rect l="l" t="t" r="r" b="b"/>
            <a:pathLst>
              <a:path w="2659296" h="2669306">
                <a:moveTo>
                  <a:pt x="0" y="0"/>
                </a:moveTo>
                <a:lnTo>
                  <a:pt x="2659296" y="0"/>
                </a:lnTo>
                <a:lnTo>
                  <a:pt x="2659296" y="2669306"/>
                </a:lnTo>
                <a:lnTo>
                  <a:pt x="0" y="26693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424861" y="1788350"/>
            <a:ext cx="11438277" cy="1461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43"/>
              </a:lnSpc>
            </a:pPr>
            <a:r>
              <a:rPr lang="en-US" sz="9600" b="1" dirty="0">
                <a:solidFill>
                  <a:schemeClr val="tx2"/>
                </a:solidFill>
              </a:rPr>
              <a:t>SQL Implementation</a:t>
            </a:r>
            <a:endParaRPr lang="en-US" sz="11443" dirty="0">
              <a:solidFill>
                <a:schemeClr val="tx2"/>
              </a:solidFill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5029200" y="4762500"/>
            <a:ext cx="5111978" cy="359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93"/>
              </a:lnSpc>
            </a:pPr>
            <a:r>
              <a:rPr lang="en-US" sz="2429" dirty="0" smtClean="0">
                <a:solidFill>
                  <a:srgbClr val="33407F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lang="en-US" sz="2429" dirty="0">
              <a:solidFill>
                <a:srgbClr val="33407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133600" y="4381500"/>
            <a:ext cx="11820927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800" dirty="0"/>
              <a:t>The system was made using MySQL. This is what it does:</a:t>
            </a:r>
          </a:p>
          <a:p>
            <a:pPr rtl="1"/>
            <a:r>
              <a:rPr lang="en-US" sz="2800" dirty="0"/>
              <a:t>It creates tables</a:t>
            </a:r>
          </a:p>
          <a:p>
            <a:pPr rtl="1"/>
            <a:r>
              <a:rPr lang="en-US" sz="2800" dirty="0"/>
              <a:t>It puts data into these tables</a:t>
            </a:r>
          </a:p>
          <a:p>
            <a:pPr rtl="1"/>
            <a:r>
              <a:rPr lang="en-US" sz="2800" dirty="0"/>
              <a:t>It has views</a:t>
            </a:r>
          </a:p>
          <a:p>
            <a:pPr rtl="1"/>
            <a:r>
              <a:rPr lang="en-US" sz="2800" dirty="0"/>
              <a:t>It has triggers</a:t>
            </a:r>
          </a:p>
          <a:p>
            <a:pPr rtl="1"/>
            <a:r>
              <a:rPr lang="en-US" sz="2800" dirty="0"/>
              <a:t>It has queries</a:t>
            </a:r>
          </a:p>
          <a:p>
            <a:pPr rtl="1"/>
            <a:r>
              <a:rPr lang="en-US" sz="2800" dirty="0"/>
              <a:t>The system uses MySQL for all of this. It has a lot of features like tables creation and data insertion and views and triggers and queries, in MySQL.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86389" y="-194898"/>
            <a:ext cx="2704084" cy="2447196"/>
          </a:xfrm>
          <a:custGeom>
            <a:avLst/>
            <a:gdLst/>
            <a:ahLst/>
            <a:cxnLst/>
            <a:rect l="l" t="t" r="r" b="b"/>
            <a:pathLst>
              <a:path w="2704084" h="2447196">
                <a:moveTo>
                  <a:pt x="0" y="0"/>
                </a:moveTo>
                <a:lnTo>
                  <a:pt x="2704083" y="0"/>
                </a:lnTo>
                <a:lnTo>
                  <a:pt x="2704083" y="2447196"/>
                </a:lnTo>
                <a:lnTo>
                  <a:pt x="0" y="24471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88873">
            <a:off x="-424830" y="7834217"/>
            <a:ext cx="3397415" cy="2848166"/>
          </a:xfrm>
          <a:custGeom>
            <a:avLst/>
            <a:gdLst/>
            <a:ahLst/>
            <a:cxnLst/>
            <a:rect l="l" t="t" r="r" b="b"/>
            <a:pathLst>
              <a:path w="3397415" h="2848166">
                <a:moveTo>
                  <a:pt x="0" y="0"/>
                </a:moveTo>
                <a:lnTo>
                  <a:pt x="3397415" y="0"/>
                </a:lnTo>
                <a:lnTo>
                  <a:pt x="3397415" y="2848166"/>
                </a:lnTo>
                <a:lnTo>
                  <a:pt x="0" y="28481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485783">
            <a:off x="15929652" y="-305953"/>
            <a:ext cx="2659296" cy="2669306"/>
          </a:xfrm>
          <a:custGeom>
            <a:avLst/>
            <a:gdLst/>
            <a:ahLst/>
            <a:cxnLst/>
            <a:rect l="l" t="t" r="r" b="b"/>
            <a:pathLst>
              <a:path w="2659296" h="2669306">
                <a:moveTo>
                  <a:pt x="0" y="0"/>
                </a:moveTo>
                <a:lnTo>
                  <a:pt x="2659296" y="0"/>
                </a:lnTo>
                <a:lnTo>
                  <a:pt x="2659296" y="2669306"/>
                </a:lnTo>
                <a:lnTo>
                  <a:pt x="0" y="26693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1014386">
            <a:off x="15455286" y="7906732"/>
            <a:ext cx="2773354" cy="2870224"/>
          </a:xfrm>
          <a:custGeom>
            <a:avLst/>
            <a:gdLst/>
            <a:ahLst/>
            <a:cxnLst/>
            <a:rect l="l" t="t" r="r" b="b"/>
            <a:pathLst>
              <a:path w="2773354" h="2870224">
                <a:moveTo>
                  <a:pt x="0" y="0"/>
                </a:moveTo>
                <a:lnTo>
                  <a:pt x="2773354" y="0"/>
                </a:lnTo>
                <a:lnTo>
                  <a:pt x="2773354" y="2870225"/>
                </a:lnTo>
                <a:lnTo>
                  <a:pt x="0" y="28702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895600" y="2324100"/>
            <a:ext cx="8726512" cy="1461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1443"/>
              </a:lnSpc>
            </a:pPr>
            <a:r>
              <a:rPr lang="en-US" sz="9600" b="1" dirty="0">
                <a:solidFill>
                  <a:schemeClr val="tx2"/>
                </a:solidFill>
              </a:rPr>
              <a:t>conclusion</a:t>
            </a:r>
            <a:endParaRPr lang="en-US" sz="11443" dirty="0">
              <a:solidFill>
                <a:schemeClr val="tx2"/>
              </a:solidFill>
              <a:latin typeface="Londrina Solid"/>
              <a:ea typeface="Londrina Solid"/>
              <a:cs typeface="Londrina Solid"/>
              <a:sym typeface="Londrina Soli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2001056" y="4692916"/>
            <a:ext cx="10515600" cy="28725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793"/>
              </a:lnSpc>
            </a:pPr>
            <a:r>
              <a:rPr lang="en-US" sz="3200" dirty="0"/>
              <a:t>The Clinic Management System does a job of managing the clinic. </a:t>
            </a:r>
            <a:r>
              <a:rPr lang="en-US" sz="3200" dirty="0" smtClean="0"/>
              <a:t>It </a:t>
            </a:r>
            <a:r>
              <a:rPr lang="en-US" sz="3200" dirty="0"/>
              <a:t>takes care of all the clinic operations. This includes the doctors, the patients and the appointments. The Clinic Management System uses a database system to do all of this. The Clinic Management System makes sure everything runs smoothly at the clinic from the doctors, to the patients and the appointments.</a:t>
            </a:r>
          </a:p>
          <a:p>
            <a:pPr algn="l">
              <a:lnSpc>
                <a:spcPts val="2793"/>
              </a:lnSpc>
            </a:pPr>
            <a:endParaRPr lang="en-US" sz="2429" dirty="0">
              <a:solidFill>
                <a:srgbClr val="33407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304800" y="1104900"/>
            <a:ext cx="8077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Department Table</a:t>
            </a:r>
          </a:p>
          <a:p>
            <a:r>
              <a:rPr lang="en-US" sz="2400" b="1" dirty="0"/>
              <a:t>Contains department details within the clinic, including department ID and department name.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9381" y="1705064"/>
            <a:ext cx="7162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Doctor Table</a:t>
            </a:r>
          </a:p>
          <a:p>
            <a:r>
              <a:rPr lang="en-US" sz="2400" b="1" dirty="0"/>
              <a:t>Stores doctor information including doctor ID, name, specialty, and department affiliation.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182" y="2705100"/>
            <a:ext cx="6858000" cy="3458058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0" y="3238500"/>
            <a:ext cx="8229600" cy="3238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1362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444661" y="952500"/>
            <a:ext cx="60198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Appointment Table</a:t>
            </a:r>
          </a:p>
          <a:p>
            <a:r>
              <a:rPr lang="en-US" sz="2400" b="1" dirty="0"/>
              <a:t>Stores appointment information including date, time, cost, status, diagnosis, patient ID, and doctor ID.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3695700"/>
            <a:ext cx="76962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Clinic Table</a:t>
            </a:r>
          </a:p>
          <a:p>
            <a:r>
              <a:rPr lang="en-US" sz="2800" b="1" dirty="0"/>
              <a:t>Stores clinic information such as clinic ID, clinic name, and location.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399" y="2598508"/>
            <a:ext cx="6096001" cy="218967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1200" y="5448300"/>
            <a:ext cx="7315200" cy="318401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04800" y="5676900"/>
            <a:ext cx="6858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Patient Table</a:t>
            </a:r>
          </a:p>
          <a:p>
            <a:r>
              <a:rPr lang="en-US" sz="2400" b="1" dirty="0"/>
              <a:t>Contains patient records including patient ID, name, contact information, and personal details.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970" y="6908315"/>
            <a:ext cx="7772400" cy="308653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28600" y="800100"/>
            <a:ext cx="17068800" cy="99104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>
                <a:solidFill>
                  <a:schemeClr val="tx2"/>
                </a:solidFill>
              </a:rPr>
              <a:t>1. How would you prevent two appointments for the same doctor from overlapping?</a:t>
            </a:r>
          </a:p>
          <a:p>
            <a:endParaRPr lang="en-US" sz="3600" dirty="0" smtClean="0"/>
          </a:p>
          <a:p>
            <a:r>
              <a:rPr lang="en-US" sz="2800" dirty="0" smtClean="0"/>
              <a:t>I would create a trigger that checks if the doctor already has an appointment at the same time. If an overlap exists, the trigger prevents the insertion and displays an error message.</a:t>
            </a:r>
          </a:p>
          <a:p>
            <a:endParaRPr lang="en-US" sz="2800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sz="3600" b="1" dirty="0" smtClean="0">
                <a:solidFill>
                  <a:schemeClr val="tx2"/>
                </a:solidFill>
              </a:rPr>
              <a:t>2. Describe a query to fetch each patient's appointments and diagnosis?</a:t>
            </a:r>
          </a:p>
          <a:p>
            <a:endParaRPr lang="en-US" sz="2400" b="1" dirty="0">
              <a:solidFill>
                <a:schemeClr val="tx2"/>
              </a:solidFill>
            </a:endParaRPr>
          </a:p>
          <a:p>
            <a:r>
              <a:rPr lang="en-US" sz="2800" dirty="0"/>
              <a:t>I would join the Patient and Appointment tables using </a:t>
            </a:r>
            <a:r>
              <a:rPr lang="en-US" sz="2800" dirty="0" err="1"/>
              <a:t>Patient_ID</a:t>
            </a:r>
            <a:r>
              <a:rPr lang="en-US" sz="2800" dirty="0"/>
              <a:t> and retrieve the patient's information, appointment details, and </a:t>
            </a:r>
            <a:r>
              <a:rPr lang="en-US" sz="2800" dirty="0" smtClean="0"/>
              <a:t>diagnosis</a:t>
            </a:r>
            <a:r>
              <a:rPr lang="en-US" sz="2800" b="1" dirty="0" smtClean="0"/>
              <a:t>.</a:t>
            </a:r>
          </a:p>
          <a:p>
            <a:endParaRPr lang="en-US" sz="2400" b="1" dirty="0"/>
          </a:p>
          <a:p>
            <a:endParaRPr lang="en-US" sz="2400" b="1" dirty="0"/>
          </a:p>
          <a:p>
            <a:endParaRPr lang="en-US" sz="2400" b="1" dirty="0" smtClean="0"/>
          </a:p>
          <a:p>
            <a:r>
              <a:rPr lang="en-US" sz="3600" b="1" dirty="0" smtClean="0">
                <a:solidFill>
                  <a:schemeClr val="tx2"/>
                </a:solidFill>
              </a:rPr>
              <a:t>3. You </a:t>
            </a:r>
            <a:r>
              <a:rPr lang="en-US" sz="3600" b="1" dirty="0">
                <a:solidFill>
                  <a:schemeClr val="tx2"/>
                </a:solidFill>
              </a:rPr>
              <a:t>need a view showing each doctor’s upcoming appointment count for next month. What would its GROUP BY look like</a:t>
            </a:r>
            <a:r>
              <a:rPr lang="en-US" sz="3600" b="1" dirty="0" smtClean="0">
                <a:solidFill>
                  <a:schemeClr val="tx2"/>
                </a:solidFill>
              </a:rPr>
              <a:t>?</a:t>
            </a:r>
          </a:p>
          <a:p>
            <a:endParaRPr lang="en-US" sz="2400" b="1" dirty="0">
              <a:solidFill>
                <a:schemeClr val="tx2"/>
              </a:solidFill>
            </a:endParaRPr>
          </a:p>
          <a:p>
            <a:r>
              <a:rPr lang="en-US" sz="2800" dirty="0" smtClean="0">
                <a:solidFill>
                  <a:schemeClr val="tx2"/>
                </a:solidFill>
              </a:rPr>
              <a:t> </a:t>
            </a:r>
            <a:r>
              <a:rPr lang="en-US" sz="2800" dirty="0"/>
              <a:t>The view groups records by </a:t>
            </a:r>
            <a:r>
              <a:rPr lang="en-US" sz="2800" dirty="0" err="1"/>
              <a:t>Doctor_ID</a:t>
            </a:r>
            <a:r>
              <a:rPr lang="en-US" sz="2800" dirty="0"/>
              <a:t> and uses COUNT() to calculate the number of appointments for each doctor in the next month</a:t>
            </a:r>
            <a:r>
              <a:rPr lang="en-US" sz="2800" dirty="0">
                <a:solidFill>
                  <a:schemeClr val="tx2"/>
                </a:solidFill>
              </a:rPr>
              <a:t>.</a:t>
            </a:r>
            <a:endParaRPr lang="en-US" sz="2800" dirty="0" smtClean="0">
              <a:solidFill>
                <a:schemeClr val="tx2"/>
              </a:solidFill>
            </a:endParaRPr>
          </a:p>
          <a:p>
            <a:endParaRPr lang="en-US" sz="2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14148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16432" y="-179028"/>
            <a:ext cx="4249215" cy="3845540"/>
          </a:xfrm>
          <a:custGeom>
            <a:avLst/>
            <a:gdLst/>
            <a:ahLst/>
            <a:cxnLst/>
            <a:rect l="l" t="t" r="r" b="b"/>
            <a:pathLst>
              <a:path w="4249215" h="3845540">
                <a:moveTo>
                  <a:pt x="0" y="0"/>
                </a:moveTo>
                <a:lnTo>
                  <a:pt x="4249216" y="0"/>
                </a:lnTo>
                <a:lnTo>
                  <a:pt x="4249216" y="3845540"/>
                </a:lnTo>
                <a:lnTo>
                  <a:pt x="0" y="38455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014386">
            <a:off x="15102628" y="6723856"/>
            <a:ext cx="3899773" cy="4035988"/>
          </a:xfrm>
          <a:custGeom>
            <a:avLst/>
            <a:gdLst/>
            <a:ahLst/>
            <a:cxnLst/>
            <a:rect l="l" t="t" r="r" b="b"/>
            <a:pathLst>
              <a:path w="3899773" h="4035988">
                <a:moveTo>
                  <a:pt x="0" y="0"/>
                </a:moveTo>
                <a:lnTo>
                  <a:pt x="3899773" y="0"/>
                </a:lnTo>
                <a:lnTo>
                  <a:pt x="3899773" y="4035988"/>
                </a:lnTo>
                <a:lnTo>
                  <a:pt x="0" y="40359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485783">
            <a:off x="14862104" y="-300831"/>
            <a:ext cx="3988636" cy="4003650"/>
          </a:xfrm>
          <a:custGeom>
            <a:avLst/>
            <a:gdLst/>
            <a:ahLst/>
            <a:cxnLst/>
            <a:rect l="l" t="t" r="r" b="b"/>
            <a:pathLst>
              <a:path w="3988636" h="4003650">
                <a:moveTo>
                  <a:pt x="0" y="0"/>
                </a:moveTo>
                <a:lnTo>
                  <a:pt x="3988636" y="0"/>
                </a:lnTo>
                <a:lnTo>
                  <a:pt x="3988636" y="4003650"/>
                </a:lnTo>
                <a:lnTo>
                  <a:pt x="0" y="40036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588873">
            <a:off x="-872206" y="6334810"/>
            <a:ext cx="4960764" cy="4158774"/>
          </a:xfrm>
          <a:custGeom>
            <a:avLst/>
            <a:gdLst/>
            <a:ahLst/>
            <a:cxnLst/>
            <a:rect l="l" t="t" r="r" b="b"/>
            <a:pathLst>
              <a:path w="4960764" h="4158774">
                <a:moveTo>
                  <a:pt x="0" y="0"/>
                </a:moveTo>
                <a:lnTo>
                  <a:pt x="4960764" y="0"/>
                </a:lnTo>
                <a:lnTo>
                  <a:pt x="4960764" y="4158774"/>
                </a:lnTo>
                <a:lnTo>
                  <a:pt x="0" y="41587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454996" y="3079442"/>
            <a:ext cx="13378009" cy="4442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055"/>
              </a:lnSpc>
            </a:pPr>
            <a:r>
              <a:rPr lang="en-US" sz="17055">
                <a:solidFill>
                  <a:srgbClr val="33407F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THANK</a:t>
            </a:r>
          </a:p>
          <a:p>
            <a:pPr algn="ctr">
              <a:lnSpc>
                <a:spcPts val="17055"/>
              </a:lnSpc>
            </a:pPr>
            <a:r>
              <a:rPr lang="en-US" sz="17055">
                <a:solidFill>
                  <a:srgbClr val="33407F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29938227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</TotalTime>
  <Words>535</Words>
  <Application>Microsoft Office PowerPoint</Application>
  <PresentationFormat>Custom</PresentationFormat>
  <Paragraphs>119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Calibri</vt:lpstr>
      <vt:lpstr>Londrina Solid</vt:lpstr>
      <vt:lpstr>Poppins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Illustrated Human Body Systems Presentation</dc:title>
  <dc:creator>Mena Ahmed Saad</dc:creator>
  <cp:lastModifiedBy>Mena Ahmed Saad</cp:lastModifiedBy>
  <cp:revision>11</cp:revision>
  <dcterms:created xsi:type="dcterms:W3CDTF">2006-08-16T00:00:00Z</dcterms:created>
  <dcterms:modified xsi:type="dcterms:W3CDTF">2026-05-30T18:55:58Z</dcterms:modified>
  <dc:identifier>DAHLKF5b4Qg</dc:identifier>
</cp:coreProperties>
</file>